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This presentation documents our research project: QUANTUM REALITY — Decoherence Study of a Quantum Walk. We address the exact assigned problem of how phase damping noise transforms quantum interference into classical diffusion, verified rigorously with Qiskit Aer density-matrix simulations and interactive 3D visualization.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sets up our core motivation. In an ideal closed system, quantum superposition produces ballistic spreading proportional to t. But real devices suffer decoherence. Our goal is to determine quantitatively how coin phase damping suppresses off-diagonal coherences, transitions the spreading exponent from 1.0 to 0.5, and converges to the classical binomial distribution.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we specify the exact mathematical formulation. The walker state lives in the tensor product of a 2D coin space and 1D lattice position space. We choose the initial coin state (|0⟩ + i|1⟩)/√2 to guarantee exact spatial symmetry. At each step, a Hadamard gate creates superposition on the coin, followed by a conditional shift moving |0⟩ right and |1⟩ left.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details the noise model. We model decoherence as a quantum channel with Kraus operators K0 and K1 acting on the coin qubit immediately after Hadamard. Notice how off-diagonal coherences ρ01 and ρ10 are multiplied by √(1-p). When p=0, coherence is 100% preserved. When p=1, coherence is completely erased, turning the quantum coin into a classical 50/50 coin flip.</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illustrates our full technology stack. The backend leverages Qiskit Aer's density matrix simulator across 8 qubits to compute exact mixed states without Monte Carlo shot noise. The frontend pairs React Three Fiber with a custom Blender laboratory environment, rendering dynamically scaled probability columns that strictly reflect physical probabilities and lattice parity constraints.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reviews our validation controls. We evaluate 5 distinct noise strengths at T = 40. We test probability normalization, spatial parity, spatial symmetry, and cross-endpoint consistency. Our independent NumPy tensor benchmark and analytical classical binomial model ensure every simulation datum is independently verifiable.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shows the primary qualitative result of the project: Figure 1. At p = 0, constructive interference drives the walker outward, creating two sharp ballistic peaks near x = ±28. As p increases to 0.50, the peaks damp down. At p = 1.00, destructive interference in the center is entirely eliminated, creating a single classical binomial envelope that overlays the classical reference with zero residual.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displays our quantitative results. On the left, Figure 2 shows σ(t) as a function of time. The top curve at p=0 is linear—ballistic propagation. The bottom curve is square-root—diffusive spreading. On the right, Figure 3 reveals the continuous decay of σ(40) from 21.66 down to the exact classical floor of √40 = 6.3246.</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proves classical convergence. Figure 4 graphs the Total Variation Distance, showing how statistical distance to classicality vanishes smoothly as noise increases. Figure 5 plots the residual between p = 1.00 and the classical reference, demonstrating that point-wise error is bounded strictly by machine floating-point precision (under 10^-15).</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we have fully answered the assigned problem. We characterized the quantum-to-classical walk transition qualitatively via distribution morphology and quantitatively via standard deviation and total variation distance. We also acknowledge the computational boundaries of classical density-matrix simulation and outline future work including depolarizing channels and physical hardware execution on IBM Quantum.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112"/>
          </a:solidFill>
          <a:ln>
            <a:solidFill>
              <a:srgbClr val="2726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463040"/>
            <a:ext cx="10332720" cy="2926080"/>
          </a:xfrm>
          <a:prstGeom prst="rect">
            <a:avLst/>
          </a:prstGeom>
          <a:noFill/>
        </p:spPr>
        <p:txBody>
          <a:bodyPr wrap="square">
            <a:spAutoFit/>
          </a:bodyPr>
          <a:lstStyle/>
          <a:p>
            <a:pPr>
              <a:spcAft>
                <a:spcPts val="1200"/>
              </a:spcAft>
              <a:defRPr sz="1200" b="1">
                <a:solidFill>
                  <a:srgbClr val="C6A66B"/>
                </a:solidFill>
              </a:defRPr>
            </a:pPr>
            <a:r>
              <a:t>PHYSICS / COMPUTER SCIENCE INTERNAL ASSESSMENT</a:t>
            </a:r>
          </a:p>
          <a:p>
            <a:pPr>
              <a:spcAft>
                <a:spcPts val="800"/>
              </a:spcAft>
              <a:defRPr sz="4400" b="1">
                <a:solidFill>
                  <a:srgbClr val="D9BD87"/>
                </a:solidFill>
              </a:defRPr>
            </a:pPr>
            <a:r>
              <a:t>QUANTUM REALITY</a:t>
            </a:r>
          </a:p>
          <a:p>
            <a:pPr>
              <a:spcAft>
                <a:spcPts val="2400"/>
              </a:spcAft>
              <a:defRPr sz="2000">
                <a:solidFill>
                  <a:srgbClr val="F0E9DB"/>
                </a:solidFill>
              </a:defRPr>
            </a:pPr>
            <a:r>
              <a:t>Decoherence Study of a Quantum Walk: Phase Damping on the Coin Operation</a:t>
            </a:r>
          </a:p>
        </p:txBody>
      </p:sp>
      <p:sp>
        <p:nvSpPr>
          <p:cNvPr id="4" name="Rounded Rectangle 3"/>
          <p:cNvSpPr/>
          <p:nvPr/>
        </p:nvSpPr>
        <p:spPr>
          <a:xfrm>
            <a:off x="914400" y="4297680"/>
            <a:ext cx="10332720" cy="1645920"/>
          </a:xfrm>
          <a:prstGeom prst="roundRect">
            <a:avLst/>
          </a:prstGeom>
          <a:solidFill>
            <a:srgbClr val="1B1A18"/>
          </a:solidFill>
          <a:ln>
            <a:solidFill>
              <a:srgbClr val="272625"/>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spcAft>
                <a:spcPts val="600"/>
              </a:spcAft>
              <a:defRPr sz="1100" b="1">
                <a:solidFill>
                  <a:srgbClr val="C6A66B"/>
                </a:solidFill>
              </a:defRPr>
            </a:pPr>
            <a:r>
              <a:t>ASSIGNED RESEARCH PROBLEM</a:t>
            </a:r>
          </a:p>
          <a:p>
            <a:pPr>
              <a:defRPr sz="1300" i="1">
                <a:solidFill>
                  <a:srgbClr val="F0E9DB"/>
                </a:solidFill>
              </a:defRPr>
            </a:pPr>
            <a:r>
              <a:t>"Decoherence study: Add dephasing or depolarizing noise to the coin operation of a quantum walk. Show how the distribution moves from quantum (two-peaked, spread out) to classical (Gaussian), and quantify using the standard deviation."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112"/>
          </a:solidFill>
          <a:ln>
            <a:solidFill>
              <a:srgbClr val="2726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000" b="1">
                <a:solidFill>
                  <a:srgbClr val="C6A66B"/>
                </a:solidFill>
              </a:defRPr>
            </a:pPr>
            <a:r>
              <a:t>QUANTUM REALITY • IA RESEARCH REPORT</a:t>
            </a:r>
          </a:p>
        </p:txBody>
      </p:sp>
      <p:sp>
        <p:nvSpPr>
          <p:cNvPr id="4" name="TextBox 3"/>
          <p:cNvSpPr txBox="1"/>
          <p:nvPr/>
        </p:nvSpPr>
        <p:spPr>
          <a:xfrm>
            <a:off x="731520" y="640080"/>
            <a:ext cx="10698480" cy="731520"/>
          </a:xfrm>
          <a:prstGeom prst="rect">
            <a:avLst/>
          </a:prstGeom>
          <a:noFill/>
        </p:spPr>
        <p:txBody>
          <a:bodyPr wrap="square">
            <a:spAutoFit/>
          </a:bodyPr>
          <a:lstStyle/>
          <a:p>
            <a:pPr>
              <a:defRPr sz="2400" b="1">
                <a:solidFill>
                  <a:srgbClr val="D9BD87"/>
                </a:solidFill>
              </a:defRPr>
            </a:pPr>
            <a:r>
              <a:t>Motivation &amp; Scientific Objectives</a:t>
            </a:r>
          </a:p>
        </p:txBody>
      </p:sp>
      <p:sp>
        <p:nvSpPr>
          <p:cNvPr id="5" name="Rounded Rectangle 4"/>
          <p:cNvSpPr/>
          <p:nvPr/>
        </p:nvSpPr>
        <p:spPr>
          <a:xfrm>
            <a:off x="731520" y="1463040"/>
            <a:ext cx="5120640" cy="4754880"/>
          </a:xfrm>
          <a:prstGeom prst="roundRect">
            <a:avLst/>
          </a:prstGeom>
          <a:solidFill>
            <a:srgbClr val="1B1A18"/>
          </a:solidFill>
          <a:ln w="12700">
            <a:solidFill>
              <a:srgbClr val="2726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45920"/>
            <a:ext cx="4754880" cy="4389120"/>
          </a:xfrm>
          <a:prstGeom prst="rect">
            <a:avLst/>
          </a:prstGeom>
          <a:noFill/>
        </p:spPr>
        <p:txBody>
          <a:bodyPr wrap="square">
            <a:spAutoFit/>
          </a:bodyPr>
          <a:lstStyle/>
          <a:p>
            <a:pPr>
              <a:spcAft>
                <a:spcPts val="800"/>
              </a:spcAft>
              <a:defRPr sz="1400" b="1">
                <a:solidFill>
                  <a:srgbClr val="C6A66B"/>
                </a:solidFill>
              </a:defRPr>
            </a:pPr>
            <a:r>
              <a:t>Scientific Context &amp; Motivation</a:t>
            </a:r>
          </a:p>
          <a:p>
            <a:pPr>
              <a:spcAft>
                <a:spcPts val="600"/>
              </a:spcAft>
              <a:defRPr sz="1150">
                <a:solidFill>
                  <a:srgbClr val="F0E9DB"/>
                </a:solidFill>
              </a:defRPr>
            </a:pPr>
            <a:r>
              <a:t>• Quantum walks form the foundational algorithmic kernel for quantum search, graph traversal, and quantum simulation.</a:t>
            </a:r>
          </a:p>
          <a:p>
            <a:pPr>
              <a:spcAft>
                <a:spcPts val="600"/>
              </a:spcAft>
              <a:defRPr sz="1150">
                <a:solidFill>
                  <a:srgbClr val="F0E9DB"/>
                </a:solidFill>
              </a:defRPr>
            </a:pPr>
            <a:r>
              <a:t>• In an ideal quantum walk, unitary interference between paths drives ballistic spreading: σ(t) ∝ t.</a:t>
            </a:r>
          </a:p>
          <a:p>
            <a:pPr>
              <a:spcAft>
                <a:spcPts val="600"/>
              </a:spcAft>
              <a:defRPr sz="1150">
                <a:solidFill>
                  <a:srgbClr val="F0E9DB"/>
                </a:solidFill>
              </a:defRPr>
            </a:pPr>
            <a:r>
              <a:t>• Real quantum processors are open quantum systems that couple unavoidably to environmental thermal and electromagnetic baths.</a:t>
            </a:r>
          </a:p>
          <a:p>
            <a:pPr>
              <a:spcAft>
                <a:spcPts val="600"/>
              </a:spcAft>
              <a:defRPr sz="1150">
                <a:solidFill>
                  <a:srgbClr val="F0E9DB"/>
                </a:solidFill>
              </a:defRPr>
            </a:pPr>
            <a:r>
              <a:t>• Understanding how coin dephasing destroys off-diagonal quantum coherence is essential for fault-tolerant algorithm design.</a:t>
            </a:r>
          </a:p>
          <a:p>
            <a:pPr>
              <a:spcAft>
                <a:spcPts val="600"/>
              </a:spcAft>
              <a:defRPr sz="1150">
                <a:solidFill>
                  <a:srgbClr val="F0E9DB"/>
                </a:solidFill>
              </a:defRPr>
            </a:pPr>
            <a:r>
              <a:t>• Goal: Rigorously characterize the quantum-to-classical transition on a 1D lattice as dephasing strength p varies from 0.0 to 1.0.</a:t>
            </a:r>
          </a:p>
        </p:txBody>
      </p:sp>
      <p:sp>
        <p:nvSpPr>
          <p:cNvPr id="7" name="Rounded Rectangle 6"/>
          <p:cNvSpPr/>
          <p:nvPr/>
        </p:nvSpPr>
        <p:spPr>
          <a:xfrm>
            <a:off x="6217920" y="1463040"/>
            <a:ext cx="5212080" cy="4754880"/>
          </a:xfrm>
          <a:prstGeom prst="roundRect">
            <a:avLst/>
          </a:prstGeom>
          <a:solidFill>
            <a:srgbClr val="1B1A18"/>
          </a:solidFill>
          <a:ln w="12700">
            <a:solidFill>
              <a:srgbClr val="2726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645920"/>
            <a:ext cx="4846320" cy="4389120"/>
          </a:xfrm>
          <a:prstGeom prst="rect">
            <a:avLst/>
          </a:prstGeom>
          <a:noFill/>
        </p:spPr>
        <p:txBody>
          <a:bodyPr wrap="square">
            <a:spAutoFit/>
          </a:bodyPr>
          <a:lstStyle/>
          <a:p>
            <a:pPr>
              <a:spcAft>
                <a:spcPts val="800"/>
              </a:spcAft>
              <a:defRPr sz="1400" b="1">
                <a:solidFill>
                  <a:srgbClr val="C6A66B"/>
                </a:solidFill>
              </a:defRPr>
            </a:pPr>
            <a:r>
              <a:t>Key Research Questions</a:t>
            </a:r>
          </a:p>
          <a:p>
            <a:pPr>
              <a:spcAft>
                <a:spcPts val="600"/>
              </a:spcAft>
              <a:defRPr sz="1150">
                <a:solidFill>
                  <a:srgbClr val="F0E9DB"/>
                </a:solidFill>
              </a:defRPr>
            </a:pPr>
            <a:r>
              <a:t>• Distribution Shape: How do the two ballistic interference peaks at ±t/√2 decay into a single central binomial/Gaussian envelope?</a:t>
            </a:r>
          </a:p>
          <a:p>
            <a:pPr>
              <a:spcAft>
                <a:spcPts val="600"/>
              </a:spcAft>
              <a:defRPr sz="1150">
                <a:solidFill>
                  <a:srgbClr val="F0E9DB"/>
                </a:solidFill>
              </a:defRPr>
            </a:pPr>
            <a:r>
              <a:t>• Spreading Exponent: How does the spatial standard deviation scale from linear ballistic propagation (σ ∝ t) to classical diffusion (σ ∝ √t)?</a:t>
            </a:r>
          </a:p>
          <a:p>
            <a:pPr>
              <a:spcAft>
                <a:spcPts val="600"/>
              </a:spcAft>
              <a:defRPr sz="1150">
                <a:solidFill>
                  <a:srgbClr val="F0E9DB"/>
                </a:solidFill>
              </a:defRPr>
            </a:pPr>
            <a:r>
              <a:t>• Classical Limit: Does complete coin dephasing (p = 1.00) converge strictly to the classical symmetric random walk reference?</a:t>
            </a:r>
          </a:p>
          <a:p>
            <a:pPr>
              <a:spcAft>
                <a:spcPts val="600"/>
              </a:spcAft>
              <a:defRPr sz="1150">
                <a:solidFill>
                  <a:srgbClr val="F0E9DB"/>
                </a:solidFill>
              </a:defRPr>
            </a:pPr>
            <a:r>
              <a:t>• Quantitative Metric: What does the Total Variation Distance TV(P_noisy, P_classical) reveal about convergence rates across intermediate noise regimes?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112"/>
          </a:solidFill>
          <a:ln>
            <a:solidFill>
              <a:srgbClr val="2726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000" b="1">
                <a:solidFill>
                  <a:srgbClr val="C6A66B"/>
                </a:solidFill>
              </a:defRPr>
            </a:pPr>
            <a:r>
              <a:t>QUANTUM REALITY • IA RESEARCH REPORT</a:t>
            </a:r>
          </a:p>
        </p:txBody>
      </p:sp>
      <p:sp>
        <p:nvSpPr>
          <p:cNvPr id="4" name="TextBox 3"/>
          <p:cNvSpPr txBox="1"/>
          <p:nvPr/>
        </p:nvSpPr>
        <p:spPr>
          <a:xfrm>
            <a:off x="731520" y="640080"/>
            <a:ext cx="10698480" cy="731520"/>
          </a:xfrm>
          <a:prstGeom prst="rect">
            <a:avLst/>
          </a:prstGeom>
          <a:noFill/>
        </p:spPr>
        <p:txBody>
          <a:bodyPr wrap="square">
            <a:spAutoFit/>
          </a:bodyPr>
          <a:lstStyle/>
          <a:p>
            <a:pPr>
              <a:defRPr sz="2400" b="1">
                <a:solidFill>
                  <a:srgbClr val="D9BD87"/>
                </a:solidFill>
              </a:defRPr>
            </a:pPr>
            <a:r>
              <a:t>Mathematical Model: 1D Discrete-Time Quantum Walk</a:t>
            </a:r>
          </a:p>
        </p:txBody>
      </p:sp>
      <p:sp>
        <p:nvSpPr>
          <p:cNvPr id="5" name="Rounded Rectangle 4"/>
          <p:cNvSpPr/>
          <p:nvPr/>
        </p:nvSpPr>
        <p:spPr>
          <a:xfrm>
            <a:off x="731520" y="1463040"/>
            <a:ext cx="5120640" cy="4754880"/>
          </a:xfrm>
          <a:prstGeom prst="roundRect">
            <a:avLst/>
          </a:prstGeom>
          <a:solidFill>
            <a:srgbClr val="1B1A18"/>
          </a:solidFill>
          <a:ln w="12700">
            <a:solidFill>
              <a:srgbClr val="2726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45920"/>
            <a:ext cx="4754880" cy="4389120"/>
          </a:xfrm>
          <a:prstGeom prst="rect">
            <a:avLst/>
          </a:prstGeom>
          <a:noFill/>
        </p:spPr>
        <p:txBody>
          <a:bodyPr wrap="square">
            <a:spAutoFit/>
          </a:bodyPr>
          <a:lstStyle/>
          <a:p>
            <a:pPr>
              <a:spcAft>
                <a:spcPts val="800"/>
              </a:spcAft>
              <a:defRPr sz="1400" b="1">
                <a:solidFill>
                  <a:srgbClr val="C6A66B"/>
                </a:solidFill>
              </a:defRPr>
            </a:pPr>
            <a:r>
              <a:t>State Space &amp; Initialization</a:t>
            </a:r>
          </a:p>
          <a:p>
            <a:pPr>
              <a:spcAft>
                <a:spcPts val="600"/>
              </a:spcAft>
              <a:defRPr sz="1150">
                <a:solidFill>
                  <a:srgbClr val="F0E9DB"/>
                </a:solidFill>
              </a:defRPr>
            </a:pPr>
            <a:r>
              <a:t>• Total Hilbert space: H = H_coin ⊗ H_position.</a:t>
            </a:r>
          </a:p>
          <a:p>
            <a:pPr>
              <a:spcAft>
                <a:spcPts val="600"/>
              </a:spcAft>
              <a:defRPr sz="1150">
                <a:solidFill>
                  <a:srgbClr val="F0E9DB"/>
                </a:solidFill>
              </a:defRPr>
            </a:pPr>
            <a:r>
              <a:t>• Coin basis: {|0⟩, |1⟩} implemented on qubit 0.</a:t>
            </a:r>
          </a:p>
          <a:p>
            <a:pPr>
              <a:spcAft>
                <a:spcPts val="600"/>
              </a:spcAft>
              <a:defRPr sz="1150">
                <a:solidFill>
                  <a:srgbClr val="F0E9DB"/>
                </a:solidFill>
              </a:defRPr>
            </a:pPr>
            <a:r>
              <a:t>• Position space: 1D lattice {|x⟩}, x ∈ [-t, +t]. Encoded on 7 position qubits (128 sites, origin at index 64).</a:t>
            </a:r>
          </a:p>
          <a:p>
            <a:pPr>
              <a:spcAft>
                <a:spcPts val="600"/>
              </a:spcAft>
              <a:defRPr sz="1150">
                <a:solidFill>
                  <a:srgbClr val="F0E9DB"/>
                </a:solidFill>
              </a:defRPr>
            </a:pPr>
            <a:r>
              <a:t>• Initial Coin State: |ψ_c(0)⟩ = (|0⟩ + i|1⟩)/√2.</a:t>
            </a:r>
          </a:p>
          <a:p>
            <a:pPr>
              <a:spcAft>
                <a:spcPts val="600"/>
              </a:spcAft>
              <a:defRPr sz="1150">
                <a:solidFill>
                  <a:srgbClr val="F0E9DB"/>
                </a:solidFill>
              </a:defRPr>
            </a:pPr>
            <a:r>
              <a:t>• Crucial: The π/2 phase factor eliminates spatial bias, producing an exactly symmetric probability distribution P(x, t) = P(-x, t) for all t.</a:t>
            </a:r>
          </a:p>
          <a:p>
            <a:pPr>
              <a:spcAft>
                <a:spcPts val="600"/>
              </a:spcAft>
              <a:defRPr sz="1150">
                <a:solidFill>
                  <a:srgbClr val="F0E9DB"/>
                </a:solidFill>
              </a:defRPr>
            </a:pPr>
            <a:r>
              <a:t>• Initial Walker State: |Ψ(0)⟩ = |ψ_c(0)⟩ ⊗ |x = 0⟩.</a:t>
            </a:r>
          </a:p>
        </p:txBody>
      </p:sp>
      <p:sp>
        <p:nvSpPr>
          <p:cNvPr id="7" name="Rounded Rectangle 6"/>
          <p:cNvSpPr/>
          <p:nvPr/>
        </p:nvSpPr>
        <p:spPr>
          <a:xfrm>
            <a:off x="6217920" y="1463040"/>
            <a:ext cx="5212080" cy="4754880"/>
          </a:xfrm>
          <a:prstGeom prst="roundRect">
            <a:avLst/>
          </a:prstGeom>
          <a:solidFill>
            <a:srgbClr val="1B1A18"/>
          </a:solidFill>
          <a:ln w="12700">
            <a:solidFill>
              <a:srgbClr val="2726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645920"/>
            <a:ext cx="4846320" cy="4389120"/>
          </a:xfrm>
          <a:prstGeom prst="rect">
            <a:avLst/>
          </a:prstGeom>
          <a:noFill/>
        </p:spPr>
        <p:txBody>
          <a:bodyPr wrap="square">
            <a:spAutoFit/>
          </a:bodyPr>
          <a:lstStyle/>
          <a:p>
            <a:pPr>
              <a:spcAft>
                <a:spcPts val="800"/>
              </a:spcAft>
              <a:defRPr sz="1400" b="1">
                <a:solidFill>
                  <a:srgbClr val="C6A66B"/>
                </a:solidFill>
              </a:defRPr>
            </a:pPr>
            <a:r>
              <a:t>Discrete Evolution Operator U = S · (I ⊗ H)</a:t>
            </a:r>
          </a:p>
          <a:p>
            <a:pPr>
              <a:spcAft>
                <a:spcPts val="600"/>
              </a:spcAft>
              <a:defRPr sz="1150">
                <a:solidFill>
                  <a:srgbClr val="F0E9DB"/>
                </a:solidFill>
              </a:defRPr>
            </a:pPr>
            <a:r>
              <a:t>• Coin Operator (Hadamard): H|0⟩ = (|0⟩+|1⟩)/√2, H|1⟩ = (|0⟩-|1⟩)/√2. Generates local path interference at each step.</a:t>
            </a:r>
          </a:p>
          <a:p>
            <a:pPr>
              <a:spcAft>
                <a:spcPts val="600"/>
              </a:spcAft>
              <a:defRPr sz="1150">
                <a:solidFill>
                  <a:srgbClr val="F0E9DB"/>
                </a:solidFill>
              </a:defRPr>
            </a:pPr>
            <a:r>
              <a:t>• Conditional Shift Operator S: S = |0⟩⟨0| ⊗ ∑_x |x+1⟩⟨x| + |1⟩⟨1| ⊗ ∑_x |x-1⟩⟨x|.</a:t>
            </a:r>
          </a:p>
          <a:p>
            <a:pPr>
              <a:spcAft>
                <a:spcPts val="600"/>
              </a:spcAft>
              <a:defRPr sz="1150">
                <a:solidFill>
                  <a:srgbClr val="F0E9DB"/>
                </a:solidFill>
              </a:defRPr>
            </a:pPr>
            <a:r>
              <a:t>• Physical rule: Coin state |0⟩ steps right (x → x + 1); coin state |1⟩ steps left (x → x - 1).</a:t>
            </a:r>
          </a:p>
          <a:p>
            <a:pPr>
              <a:spcAft>
                <a:spcPts val="600"/>
              </a:spcAft>
              <a:defRPr sz="1150">
                <a:solidFill>
                  <a:srgbClr val="F0E9DB"/>
                </a:solidFill>
              </a:defRPr>
            </a:pPr>
            <a:r>
              <a:t>• Single Timestep Evolution: |Ψ(t+1)⟩ = U |Ψ(t)⟩ = [S · (I ⊗ H)] |Ψ(t)⟩.</a:t>
            </a:r>
          </a:p>
          <a:p>
            <a:pPr>
              <a:spcAft>
                <a:spcPts val="600"/>
              </a:spcAft>
              <a:defRPr sz="1150">
                <a:solidFill>
                  <a:srgbClr val="F0E9DB"/>
                </a:solidFill>
              </a:defRPr>
            </a:pPr>
            <a:r>
              <a:t>• Position Probability: P(x, t) = ⟨x| Tr_coin(ρ(t)) |x⟩ = |⟨0, x|Ψ(t)⟩|² + |⟨1, x|Ψ(t)⟩|².</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112"/>
          </a:solidFill>
          <a:ln>
            <a:solidFill>
              <a:srgbClr val="2726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000" b="1">
                <a:solidFill>
                  <a:srgbClr val="C6A66B"/>
                </a:solidFill>
              </a:defRPr>
            </a:pPr>
            <a:r>
              <a:t>QUANTUM REALITY • IA RESEARCH REPORT</a:t>
            </a:r>
          </a:p>
        </p:txBody>
      </p:sp>
      <p:sp>
        <p:nvSpPr>
          <p:cNvPr id="4" name="TextBox 3"/>
          <p:cNvSpPr txBox="1"/>
          <p:nvPr/>
        </p:nvSpPr>
        <p:spPr>
          <a:xfrm>
            <a:off x="731520" y="640080"/>
            <a:ext cx="10698480" cy="731520"/>
          </a:xfrm>
          <a:prstGeom prst="rect">
            <a:avLst/>
          </a:prstGeom>
          <a:noFill/>
        </p:spPr>
        <p:txBody>
          <a:bodyPr wrap="square">
            <a:spAutoFit/>
          </a:bodyPr>
          <a:lstStyle/>
          <a:p>
            <a:pPr>
              <a:defRPr sz="2400" b="1">
                <a:solidFill>
                  <a:srgbClr val="D9BD87"/>
                </a:solidFill>
              </a:defRPr>
            </a:pPr>
            <a:r>
              <a:t>Decoherence Mechanism: Phase Damping on the Coin</a:t>
            </a:r>
          </a:p>
        </p:txBody>
      </p:sp>
      <p:sp>
        <p:nvSpPr>
          <p:cNvPr id="5" name="Rounded Rectangle 4"/>
          <p:cNvSpPr/>
          <p:nvPr/>
        </p:nvSpPr>
        <p:spPr>
          <a:xfrm>
            <a:off x="731520" y="1463040"/>
            <a:ext cx="5120640" cy="4754880"/>
          </a:xfrm>
          <a:prstGeom prst="roundRect">
            <a:avLst/>
          </a:prstGeom>
          <a:solidFill>
            <a:srgbClr val="1B1A18"/>
          </a:solidFill>
          <a:ln w="12700">
            <a:solidFill>
              <a:srgbClr val="2726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45920"/>
            <a:ext cx="4754880" cy="4389120"/>
          </a:xfrm>
          <a:prstGeom prst="rect">
            <a:avLst/>
          </a:prstGeom>
          <a:noFill/>
        </p:spPr>
        <p:txBody>
          <a:bodyPr wrap="square">
            <a:spAutoFit/>
          </a:bodyPr>
          <a:lstStyle/>
          <a:p>
            <a:pPr>
              <a:spcAft>
                <a:spcPts val="800"/>
              </a:spcAft>
              <a:defRPr sz="1400" b="1">
                <a:solidFill>
                  <a:srgbClr val="C6A66B"/>
                </a:solidFill>
              </a:defRPr>
            </a:pPr>
            <a:r>
              <a:t>Kraus Representation of Phase Damping</a:t>
            </a:r>
          </a:p>
          <a:p>
            <a:pPr>
              <a:spcAft>
                <a:spcPts val="600"/>
              </a:spcAft>
              <a:defRPr sz="1150">
                <a:solidFill>
                  <a:srgbClr val="F0E9DB"/>
                </a:solidFill>
              </a:defRPr>
            </a:pPr>
            <a:r>
              <a:t>• The phase damping channel E(ρ_c) acts strictly on the coin qubit after the Hadamard gate: E(ρ_c) = K0 ρ_c K0† + K1 ρ_c K1†.</a:t>
            </a:r>
          </a:p>
          <a:p>
            <a:pPr>
              <a:spcAft>
                <a:spcPts val="600"/>
              </a:spcAft>
              <a:defRPr sz="1150">
                <a:solidFill>
                  <a:srgbClr val="F0E9DB"/>
                </a:solidFill>
              </a:defRPr>
            </a:pPr>
            <a:r>
              <a:t>• Kraus Operators with noise parameter p ∈ [0, 1]:</a:t>
            </a:r>
          </a:p>
          <a:p>
            <a:pPr>
              <a:spcAft>
                <a:spcPts val="600"/>
              </a:spcAft>
              <a:defRPr sz="1150">
                <a:solidFill>
                  <a:srgbClr val="F0E9DB"/>
                </a:solidFill>
              </a:defRPr>
            </a:pPr>
            <a:r>
              <a:t>•   K0 = [[1, 0], [0, √(1 - p)]]</a:t>
            </a:r>
          </a:p>
          <a:p>
            <a:pPr>
              <a:spcAft>
                <a:spcPts val="600"/>
              </a:spcAft>
              <a:defRPr sz="1150">
                <a:solidFill>
                  <a:srgbClr val="F0E9DB"/>
                </a:solidFill>
              </a:defRPr>
            </a:pPr>
            <a:r>
              <a:t>•   K1 = [[0, 0], [0, √p]]</a:t>
            </a:r>
          </a:p>
          <a:p>
            <a:pPr>
              <a:spcAft>
                <a:spcPts val="600"/>
              </a:spcAft>
              <a:defRPr sz="1150">
                <a:solidFill>
                  <a:srgbClr val="F0E9DB"/>
                </a:solidFill>
              </a:defRPr>
            </a:pPr>
            <a:r>
              <a:t>• Completeness relation: K0† K0 + K1† K1 = I_2.</a:t>
            </a:r>
          </a:p>
          <a:p>
            <a:pPr>
              <a:spcAft>
                <a:spcPts val="600"/>
              </a:spcAft>
              <a:defRPr sz="1150">
                <a:solidFill>
                  <a:srgbClr val="F0E9DB"/>
                </a:solidFill>
              </a:defRPr>
            </a:pPr>
            <a:r>
              <a:t>• Effect on Coin Density Matrix:</a:t>
            </a:r>
          </a:p>
          <a:p>
            <a:pPr>
              <a:spcAft>
                <a:spcPts val="600"/>
              </a:spcAft>
              <a:defRPr sz="1150">
                <a:solidFill>
                  <a:srgbClr val="F0E9DB"/>
                </a:solidFill>
              </a:defRPr>
            </a:pPr>
            <a:r>
              <a:t>•   ρ_00 → ρ_00,  ρ_11 → ρ_11</a:t>
            </a:r>
          </a:p>
          <a:p>
            <a:pPr>
              <a:spcAft>
                <a:spcPts val="600"/>
              </a:spcAft>
              <a:defRPr sz="1150">
                <a:solidFill>
                  <a:srgbClr val="F0E9DB"/>
                </a:solidFill>
              </a:defRPr>
            </a:pPr>
            <a:r>
              <a:t>•   ρ_01 → √(1 - p) ρ_01,  ρ_10 → √(1 - p) ρ_10</a:t>
            </a:r>
          </a:p>
          <a:p>
            <a:pPr>
              <a:spcAft>
                <a:spcPts val="600"/>
              </a:spcAft>
              <a:defRPr sz="1150">
                <a:solidFill>
                  <a:srgbClr val="F0E9DB"/>
                </a:solidFill>
              </a:defRPr>
            </a:pPr>
            <a:r>
              <a:t>• Physical Meaning: Energy populations are conserved, but quantum phase coherence is exponentially degraded by factor √(1 - p).</a:t>
            </a:r>
          </a:p>
        </p:txBody>
      </p:sp>
      <p:sp>
        <p:nvSpPr>
          <p:cNvPr id="7" name="Rounded Rectangle 6"/>
          <p:cNvSpPr/>
          <p:nvPr/>
        </p:nvSpPr>
        <p:spPr>
          <a:xfrm>
            <a:off x="6217920" y="1463040"/>
            <a:ext cx="5212080" cy="4754880"/>
          </a:xfrm>
          <a:prstGeom prst="roundRect">
            <a:avLst/>
          </a:prstGeom>
          <a:solidFill>
            <a:srgbClr val="1B1A18"/>
          </a:solidFill>
          <a:ln w="12700">
            <a:solidFill>
              <a:srgbClr val="2726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645920"/>
            <a:ext cx="4846320" cy="4389120"/>
          </a:xfrm>
          <a:prstGeom prst="rect">
            <a:avLst/>
          </a:prstGeom>
          <a:noFill/>
        </p:spPr>
        <p:txBody>
          <a:bodyPr wrap="square">
            <a:spAutoFit/>
          </a:bodyPr>
          <a:lstStyle/>
          <a:p>
            <a:pPr>
              <a:spcAft>
                <a:spcPts val="800"/>
              </a:spcAft>
              <a:defRPr sz="1400" b="1">
                <a:solidFill>
                  <a:srgbClr val="C6A66B"/>
                </a:solidFill>
              </a:defRPr>
            </a:pPr>
            <a:r>
              <a:t>Full Step Sequence &amp; Regimes</a:t>
            </a:r>
          </a:p>
          <a:p>
            <a:pPr>
              <a:spcAft>
                <a:spcPts val="600"/>
              </a:spcAft>
              <a:defRPr sz="1150">
                <a:solidFill>
                  <a:srgbClr val="F0E9DB"/>
                </a:solidFill>
              </a:defRPr>
            </a:pPr>
            <a:r>
              <a:t>• Complete Timestep Evolution for Density Matrix ρ(t):</a:t>
            </a:r>
          </a:p>
          <a:p>
            <a:pPr>
              <a:spcAft>
                <a:spcPts val="600"/>
              </a:spcAft>
              <a:defRPr sz="1150">
                <a:solidFill>
                  <a:srgbClr val="F0E9DB"/>
                </a:solidFill>
              </a:defRPr>
            </a:pPr>
            <a:r>
              <a:t>•   1. Hadamard: ρ' = (I ⊗ H) ρ(t) (I ⊗ H)†</a:t>
            </a:r>
          </a:p>
          <a:p>
            <a:pPr>
              <a:spcAft>
                <a:spcPts val="600"/>
              </a:spcAft>
              <a:defRPr sz="1150">
                <a:solidFill>
                  <a:srgbClr val="F0E9DB"/>
                </a:solidFill>
              </a:defRPr>
            </a:pPr>
            <a:r>
              <a:t>•   2. Coin Dephasing: ρ'' = ∑_k (I ⊗ K_k) ρ' (I ⊗ K_k)†</a:t>
            </a:r>
          </a:p>
          <a:p>
            <a:pPr>
              <a:spcAft>
                <a:spcPts val="600"/>
              </a:spcAft>
              <a:defRPr sz="1150">
                <a:solidFill>
                  <a:srgbClr val="F0E9DB"/>
                </a:solidFill>
              </a:defRPr>
            </a:pPr>
            <a:r>
              <a:t>•   3. Shift: ρ(t+1) = S ρ'' S†</a:t>
            </a:r>
          </a:p>
          <a:p>
            <a:pPr>
              <a:spcAft>
                <a:spcPts val="600"/>
              </a:spcAft>
              <a:defRPr sz="1150">
                <a:solidFill>
                  <a:srgbClr val="F0E9DB"/>
                </a:solidFill>
              </a:defRPr>
            </a:pPr>
            <a:r>
              <a:t>• Three Critical Operating Regimes:</a:t>
            </a:r>
          </a:p>
          <a:p>
            <a:pPr>
              <a:spcAft>
                <a:spcPts val="600"/>
              </a:spcAft>
              <a:defRPr sz="1150">
                <a:solidFill>
                  <a:srgbClr val="F0E9DB"/>
                </a:solidFill>
              </a:defRPr>
            </a:pPr>
            <a:r>
              <a:t>•   • p = 0.00 (Coherent): Unitary quantum walk; maximal interference; ballistic expansion σ ∝ t.</a:t>
            </a:r>
          </a:p>
          <a:p>
            <a:pPr>
              <a:spcAft>
                <a:spcPts val="600"/>
              </a:spcAft>
              <a:defRPr sz="1150">
                <a:solidFill>
                  <a:srgbClr val="F0E9DB"/>
                </a:solidFill>
              </a:defRPr>
            </a:pPr>
            <a:r>
              <a:t>•   • 0 &lt; p &lt; 1.00 (Intermediate): Partial phase decoherence; gradual suppression of off-diagonal coherences.</a:t>
            </a:r>
          </a:p>
          <a:p>
            <a:pPr>
              <a:spcAft>
                <a:spcPts val="600"/>
              </a:spcAft>
              <a:defRPr sz="1150">
                <a:solidFill>
                  <a:srgbClr val="F0E9DB"/>
                </a:solidFill>
              </a:defRPr>
            </a:pPr>
            <a:r>
              <a:t>•   • p = 1.00 (Complete Dephasing): Off-diagonals completely erased; coin acts as an unbiased classical coin toss; yields exact classical random walk.</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112"/>
          </a:solidFill>
          <a:ln>
            <a:solidFill>
              <a:srgbClr val="2726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000" b="1">
                <a:solidFill>
                  <a:srgbClr val="C6A66B"/>
                </a:solidFill>
              </a:defRPr>
            </a:pPr>
            <a:r>
              <a:t>QUANTUM REALITY • IA RESEARCH REPORT</a:t>
            </a:r>
          </a:p>
        </p:txBody>
      </p:sp>
      <p:sp>
        <p:nvSpPr>
          <p:cNvPr id="4" name="TextBox 3"/>
          <p:cNvSpPr txBox="1"/>
          <p:nvPr/>
        </p:nvSpPr>
        <p:spPr>
          <a:xfrm>
            <a:off x="731520" y="640080"/>
            <a:ext cx="10698480" cy="731520"/>
          </a:xfrm>
          <a:prstGeom prst="rect">
            <a:avLst/>
          </a:prstGeom>
          <a:noFill/>
        </p:spPr>
        <p:txBody>
          <a:bodyPr wrap="square">
            <a:spAutoFit/>
          </a:bodyPr>
          <a:lstStyle/>
          <a:p>
            <a:pPr>
              <a:defRPr sz="2400" b="1">
                <a:solidFill>
                  <a:srgbClr val="D9BD87"/>
                </a:solidFill>
              </a:defRPr>
            </a:pPr>
            <a:r>
              <a:t>Software Architecture &amp; Interactive 3D Workbench</a:t>
            </a:r>
          </a:p>
        </p:txBody>
      </p:sp>
      <p:sp>
        <p:nvSpPr>
          <p:cNvPr id="5" name="Rounded Rectangle 4"/>
          <p:cNvSpPr/>
          <p:nvPr/>
        </p:nvSpPr>
        <p:spPr>
          <a:xfrm>
            <a:off x="731520" y="1463040"/>
            <a:ext cx="5120640" cy="4754880"/>
          </a:xfrm>
          <a:prstGeom prst="roundRect">
            <a:avLst/>
          </a:prstGeom>
          <a:solidFill>
            <a:srgbClr val="1B1A18"/>
          </a:solidFill>
          <a:ln w="12700">
            <a:solidFill>
              <a:srgbClr val="2726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45920"/>
            <a:ext cx="4754880" cy="4389120"/>
          </a:xfrm>
          <a:prstGeom prst="rect">
            <a:avLst/>
          </a:prstGeom>
          <a:noFill/>
        </p:spPr>
        <p:txBody>
          <a:bodyPr wrap="square">
            <a:spAutoFit/>
          </a:bodyPr>
          <a:lstStyle/>
          <a:p>
            <a:pPr>
              <a:spcAft>
                <a:spcPts val="800"/>
              </a:spcAft>
              <a:defRPr sz="1400" b="1">
                <a:solidFill>
                  <a:srgbClr val="C6A66B"/>
                </a:solidFill>
              </a:defRPr>
            </a:pPr>
            <a:r>
              <a:t>Computational Stack &amp; Scientific Backend</a:t>
            </a:r>
          </a:p>
          <a:p>
            <a:pPr>
              <a:spcAft>
                <a:spcPts val="600"/>
              </a:spcAft>
              <a:defRPr sz="1150">
                <a:solidFill>
                  <a:srgbClr val="F0E9DB"/>
                </a:solidFill>
              </a:defRPr>
            </a:pPr>
            <a:r>
              <a:t>• Backend: FastAPI + Python 3.11 with typed Pydantic schemas.</a:t>
            </a:r>
          </a:p>
          <a:p>
            <a:pPr>
              <a:spcAft>
                <a:spcPts val="600"/>
              </a:spcAft>
              <a:defRPr sz="1150">
                <a:solidFill>
                  <a:srgbClr val="F0E9DB"/>
                </a:solidFill>
              </a:defRPr>
            </a:pPr>
            <a:r>
              <a:t>• Quantum Engine: Qiskit 2.6.0 &amp; Qiskit Aer 0.18.0 using density-matrix superoperator simulation on 8 qubits (256 states).</a:t>
            </a:r>
          </a:p>
          <a:p>
            <a:pPr>
              <a:spcAft>
                <a:spcPts val="600"/>
              </a:spcAft>
              <a:defRPr sz="1150">
                <a:solidFill>
                  <a:srgbClr val="F0E9DB"/>
                </a:solidFill>
              </a:defRPr>
            </a:pPr>
            <a:r>
              <a:t>• Independent Validation: NumPy 2.4.6 amplitude tensor reference for ideal walk cross-checks (&lt; 1e-15 discrepancy).</a:t>
            </a:r>
          </a:p>
          <a:p>
            <a:pPr>
              <a:spcAft>
                <a:spcPts val="600"/>
              </a:spcAft>
              <a:defRPr sz="1150">
                <a:solidFill>
                  <a:srgbClr val="F0E9DB"/>
                </a:solidFill>
              </a:defRPr>
            </a:pPr>
            <a:r>
              <a:t>• Rigorous Boundary Protection: 7-bit register spans indices [0, 127] with origin at 64; strictly confines T ≤ 40 walks to [-40, +40] ([24, 104]), preventing cyclic boundary wrap.</a:t>
            </a:r>
          </a:p>
          <a:p>
            <a:pPr>
              <a:spcAft>
                <a:spcPts val="600"/>
              </a:spcAft>
              <a:defRPr sz="1150">
                <a:solidFill>
                  <a:srgbClr val="F0E9DB"/>
                </a:solidFill>
              </a:defRPr>
            </a:pPr>
            <a:r>
              <a:t>• Automated Testing: 123 pytest tests verifying unitarity, norm conservation, parity, symmetry, and error rejections.</a:t>
            </a:r>
          </a:p>
        </p:txBody>
      </p:sp>
      <p:sp>
        <p:nvSpPr>
          <p:cNvPr id="7" name="Rounded Rectangle 6"/>
          <p:cNvSpPr/>
          <p:nvPr/>
        </p:nvSpPr>
        <p:spPr>
          <a:xfrm>
            <a:off x="6217920" y="1463040"/>
            <a:ext cx="5212080" cy="4754880"/>
          </a:xfrm>
          <a:prstGeom prst="roundRect">
            <a:avLst/>
          </a:prstGeom>
          <a:solidFill>
            <a:srgbClr val="1B1A18"/>
          </a:solidFill>
          <a:ln w="12700">
            <a:solidFill>
              <a:srgbClr val="2726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645920"/>
            <a:ext cx="4846320" cy="4389120"/>
          </a:xfrm>
          <a:prstGeom prst="rect">
            <a:avLst/>
          </a:prstGeom>
          <a:noFill/>
        </p:spPr>
        <p:txBody>
          <a:bodyPr wrap="square">
            <a:spAutoFit/>
          </a:bodyPr>
          <a:lstStyle/>
          <a:p>
            <a:pPr>
              <a:spcAft>
                <a:spcPts val="800"/>
              </a:spcAft>
              <a:defRPr sz="1400" b="1">
                <a:solidFill>
                  <a:srgbClr val="C6A66B"/>
                </a:solidFill>
              </a:defRPr>
            </a:pPr>
            <a:r>
              <a:t>Interactive 3D Workbench (Frontend)</a:t>
            </a:r>
          </a:p>
          <a:p>
            <a:pPr>
              <a:spcAft>
                <a:spcPts val="600"/>
              </a:spcAft>
              <a:defRPr sz="1150">
                <a:solidFill>
                  <a:srgbClr val="F0E9DB"/>
                </a:solidFill>
              </a:defRPr>
            </a:pPr>
            <a:r>
              <a:t>• 3D Geometry: Custom laboratory environment modeled in Blender 5.2.2 LTS, exported as optimized GLB.</a:t>
            </a:r>
          </a:p>
          <a:p>
            <a:pPr>
              <a:spcAft>
                <a:spcPts val="600"/>
              </a:spcAft>
              <a:defRPr sz="1150">
                <a:solidFill>
                  <a:srgbClr val="F0E9DB"/>
                </a:solidFill>
              </a:defRPr>
            </a:pPr>
            <a:r>
              <a:t>• Rendering Engine: React Three Fiber, Three.js, and Drei in React 19 + TypeScript.</a:t>
            </a:r>
          </a:p>
          <a:p>
            <a:pPr>
              <a:spcAft>
                <a:spcPts val="600"/>
              </a:spcAft>
              <a:defRPr sz="1150">
                <a:solidFill>
                  <a:srgbClr val="F0E9DB"/>
                </a:solidFill>
              </a:defRPr>
            </a:pPr>
            <a:r>
              <a:t>• Scientifically Honest Bars: Parity-forbidden sites (P = 0) render zero-height flush pads; positive heights scale strictly with P(x, t) × 3.6.</a:t>
            </a:r>
          </a:p>
          <a:p>
            <a:pPr>
              <a:spcAft>
                <a:spcPts val="600"/>
              </a:spcAft>
              <a:defRPr sz="1150">
                <a:solidFill>
                  <a:srgbClr val="F0E9DB"/>
                </a:solidFill>
              </a:defRPr>
            </a:pPr>
            <a:r>
              <a:t>• Playback &amp; Inspection: Scrubber for scrubbing timesteps t ∈ [0, 40], live SVG probability charts, and hover crosshair readouts.</a:t>
            </a:r>
          </a:p>
          <a:p>
            <a:pPr>
              <a:spcAft>
                <a:spcPts val="600"/>
              </a:spcAft>
              <a:defRPr sz="1150">
                <a:solidFill>
                  <a:srgbClr val="F0E9DB"/>
                </a:solidFill>
              </a:defRPr>
            </a:pPr>
            <a:r>
              <a:t>• Design System: High-contrast Obsidian &amp; Champagne Gold (#101112 / #C6A66B) scientific instrument aesthetic.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112"/>
          </a:solidFill>
          <a:ln>
            <a:solidFill>
              <a:srgbClr val="2726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000" b="1">
                <a:solidFill>
                  <a:srgbClr val="C6A66B"/>
                </a:solidFill>
              </a:defRPr>
            </a:pPr>
            <a:r>
              <a:t>QUANTUM REALITY • IA RESEARCH REPORT</a:t>
            </a:r>
          </a:p>
        </p:txBody>
      </p:sp>
      <p:sp>
        <p:nvSpPr>
          <p:cNvPr id="4" name="TextBox 3"/>
          <p:cNvSpPr txBox="1"/>
          <p:nvPr/>
        </p:nvSpPr>
        <p:spPr>
          <a:xfrm>
            <a:off x="731520" y="640080"/>
            <a:ext cx="10698480" cy="731520"/>
          </a:xfrm>
          <a:prstGeom prst="rect">
            <a:avLst/>
          </a:prstGeom>
          <a:noFill/>
        </p:spPr>
        <p:txBody>
          <a:bodyPr wrap="square">
            <a:spAutoFit/>
          </a:bodyPr>
          <a:lstStyle/>
          <a:p>
            <a:pPr>
              <a:defRPr sz="2400" b="1">
                <a:solidFill>
                  <a:srgbClr val="D9BD87"/>
                </a:solidFill>
              </a:defRPr>
            </a:pPr>
            <a:r>
              <a:t>Experimental Procedure &amp; Verification Metrics</a:t>
            </a:r>
          </a:p>
        </p:txBody>
      </p:sp>
      <p:sp>
        <p:nvSpPr>
          <p:cNvPr id="5" name="Rounded Rectangle 4"/>
          <p:cNvSpPr/>
          <p:nvPr/>
        </p:nvSpPr>
        <p:spPr>
          <a:xfrm>
            <a:off x="731520" y="1463040"/>
            <a:ext cx="5120640" cy="4754880"/>
          </a:xfrm>
          <a:prstGeom prst="roundRect">
            <a:avLst/>
          </a:prstGeom>
          <a:solidFill>
            <a:srgbClr val="1B1A18"/>
          </a:solidFill>
          <a:ln w="12700">
            <a:solidFill>
              <a:srgbClr val="2726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45920"/>
            <a:ext cx="4754880" cy="4389120"/>
          </a:xfrm>
          <a:prstGeom prst="rect">
            <a:avLst/>
          </a:prstGeom>
          <a:noFill/>
        </p:spPr>
        <p:txBody>
          <a:bodyPr wrap="square">
            <a:spAutoFit/>
          </a:bodyPr>
          <a:lstStyle/>
          <a:p>
            <a:pPr>
              <a:spcAft>
                <a:spcPts val="800"/>
              </a:spcAft>
              <a:defRPr sz="1400" b="1">
                <a:solidFill>
                  <a:srgbClr val="C6A66B"/>
                </a:solidFill>
              </a:defRPr>
            </a:pPr>
            <a:r>
              <a:t>Investigated Experimental Conditions</a:t>
            </a:r>
          </a:p>
          <a:p>
            <a:pPr>
              <a:spcAft>
                <a:spcPts val="600"/>
              </a:spcAft>
              <a:defRPr sz="1150">
                <a:solidFill>
                  <a:srgbClr val="F0E9DB"/>
                </a:solidFill>
              </a:defRPr>
            </a:pPr>
            <a:r>
              <a:t>• Lattice Extent: T = 40 discrete timesteps across 81 spatial sites x ∈ [-40, +40].</a:t>
            </a:r>
          </a:p>
          <a:p>
            <a:pPr>
              <a:spcAft>
                <a:spcPts val="600"/>
              </a:spcAft>
              <a:defRPr sz="1150">
                <a:solidFill>
                  <a:srgbClr val="F0E9DB"/>
                </a:solidFill>
              </a:defRPr>
            </a:pPr>
            <a:r>
              <a:t>• Investigated Noise Strengths: p ∈ {0.00, 0.25, 0.50, 0.75, 1.00}.</a:t>
            </a:r>
          </a:p>
          <a:p>
            <a:pPr>
              <a:spcAft>
                <a:spcPts val="600"/>
              </a:spcAft>
              <a:defRPr sz="1150">
                <a:solidFill>
                  <a:srgbClr val="F0E9DB"/>
                </a:solidFill>
              </a:defRPr>
            </a:pPr>
            <a:r>
              <a:t>• Initial State: (|0⟩ + i|1⟩)/√2 ⊗ |x = 0⟩ (strictly symmetric).</a:t>
            </a:r>
          </a:p>
          <a:p>
            <a:pPr>
              <a:spcAft>
                <a:spcPts val="600"/>
              </a:spcAft>
              <a:defRPr sz="1150">
                <a:solidFill>
                  <a:srgbClr val="F0E9DB"/>
                </a:solidFill>
              </a:defRPr>
            </a:pPr>
            <a:r>
              <a:t>• Simulated Quantities:</a:t>
            </a:r>
          </a:p>
          <a:p>
            <a:pPr>
              <a:spcAft>
                <a:spcPts val="600"/>
              </a:spcAft>
              <a:defRPr sz="1150">
                <a:solidFill>
                  <a:srgbClr val="F0E9DB"/>
                </a:solidFill>
              </a:defRPr>
            </a:pPr>
            <a:r>
              <a:t>•   • Position Probability: P(x, t) for all x ∈ [-t, +t].</a:t>
            </a:r>
          </a:p>
          <a:p>
            <a:pPr>
              <a:spcAft>
                <a:spcPts val="600"/>
              </a:spcAft>
              <a:defRPr sz="1150">
                <a:solidFill>
                  <a:srgbClr val="F0E9DB"/>
                </a:solidFill>
              </a:defRPr>
            </a:pPr>
            <a:r>
              <a:t>•   • Mean Position: μ(t) = ∑ x · P(x, t).</a:t>
            </a:r>
          </a:p>
          <a:p>
            <a:pPr>
              <a:spcAft>
                <a:spcPts val="600"/>
              </a:spcAft>
              <a:defRPr sz="1150">
                <a:solidFill>
                  <a:srgbClr val="F0E9DB"/>
                </a:solidFill>
              </a:defRPr>
            </a:pPr>
            <a:r>
              <a:t>•   • Standard Deviation: σ(t) = √[∑ (x - μ(t))² · P(x, t)].</a:t>
            </a:r>
          </a:p>
          <a:p>
            <a:pPr>
              <a:spcAft>
                <a:spcPts val="600"/>
              </a:spcAft>
              <a:defRPr sz="1150">
                <a:solidFill>
                  <a:srgbClr val="F0E9DB"/>
                </a:solidFill>
              </a:defRPr>
            </a:pPr>
            <a:r>
              <a:t>•   • Classical Reference: σ_cl(t) = √t (unbiased binomial walk).</a:t>
            </a:r>
          </a:p>
          <a:p>
            <a:pPr>
              <a:spcAft>
                <a:spcPts val="600"/>
              </a:spcAft>
              <a:defRPr sz="1150">
                <a:solidFill>
                  <a:srgbClr val="F0E9DB"/>
                </a:solidFill>
              </a:defRPr>
            </a:pPr>
            <a:r>
              <a:t>•   • Total Variation: TV(P_noisy, P_cl) = 0.5 · ∑ |P_noisy(x) - P_cl(x)|.</a:t>
            </a:r>
          </a:p>
        </p:txBody>
      </p:sp>
      <p:sp>
        <p:nvSpPr>
          <p:cNvPr id="7" name="Rounded Rectangle 6"/>
          <p:cNvSpPr/>
          <p:nvPr/>
        </p:nvSpPr>
        <p:spPr>
          <a:xfrm>
            <a:off x="6217920" y="1463040"/>
            <a:ext cx="5212080" cy="4754880"/>
          </a:xfrm>
          <a:prstGeom prst="roundRect">
            <a:avLst/>
          </a:prstGeom>
          <a:solidFill>
            <a:srgbClr val="1B1A18"/>
          </a:solidFill>
          <a:ln w="12700">
            <a:solidFill>
              <a:srgbClr val="2726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645920"/>
            <a:ext cx="4846320" cy="4389120"/>
          </a:xfrm>
          <a:prstGeom prst="rect">
            <a:avLst/>
          </a:prstGeom>
          <a:noFill/>
        </p:spPr>
        <p:txBody>
          <a:bodyPr wrap="square">
            <a:spAutoFit/>
          </a:bodyPr>
          <a:lstStyle/>
          <a:p>
            <a:pPr>
              <a:spcAft>
                <a:spcPts val="800"/>
              </a:spcAft>
              <a:defRPr sz="1400" b="1">
                <a:solidFill>
                  <a:srgbClr val="C6A66B"/>
                </a:solidFill>
              </a:defRPr>
            </a:pPr>
            <a:r>
              <a:t>Validation Standards &amp; Controls</a:t>
            </a:r>
          </a:p>
          <a:p>
            <a:pPr>
              <a:spcAft>
                <a:spcPts val="600"/>
              </a:spcAft>
              <a:defRPr sz="1150">
                <a:solidFill>
                  <a:srgbClr val="F0E9DB"/>
                </a:solidFill>
              </a:defRPr>
            </a:pPr>
            <a:r>
              <a:t>• Norm Conservation: ∑_x P(x, t) = 1.000000 verified across all t and p to machine precision (&lt; 1e-15).</a:t>
            </a:r>
          </a:p>
          <a:p>
            <a:pPr>
              <a:spcAft>
                <a:spcPts val="600"/>
              </a:spcAft>
              <a:defRPr sz="1150">
                <a:solidFill>
                  <a:srgbClr val="F0E9DB"/>
                </a:solidFill>
              </a:defRPr>
            </a:pPr>
            <a:r>
              <a:t>• Spatial Parity: Probability strictly zero for x ≢ t (mod 2); verified across all lattice sites.</a:t>
            </a:r>
          </a:p>
          <a:p>
            <a:pPr>
              <a:spcAft>
                <a:spcPts val="600"/>
              </a:spcAft>
              <a:defRPr sz="1150">
                <a:solidFill>
                  <a:srgbClr val="F0E9DB"/>
                </a:solidFill>
              </a:defRPr>
            </a:pPr>
            <a:r>
              <a:t>• Spatial Symmetry: μ(t) = 0.000000 and P(x, t) = P(-x, t) preserved exactly under phase damping.</a:t>
            </a:r>
          </a:p>
          <a:p>
            <a:pPr>
              <a:spcAft>
                <a:spcPts val="600"/>
              </a:spcAft>
              <a:defRPr sz="1150">
                <a:solidFill>
                  <a:srgbClr val="F0E9DB"/>
                </a:solidFill>
              </a:defRPr>
            </a:pPr>
            <a:r>
              <a:t>• Cross-Endpoint Benchmark: p = 0.00 decoherence simulation matches independent ideal endpoint with max error 1.67e-16.</a:t>
            </a:r>
          </a:p>
          <a:p>
            <a:pPr>
              <a:spcAft>
                <a:spcPts val="600"/>
              </a:spcAft>
              <a:defRPr sz="1150">
                <a:solidFill>
                  <a:srgbClr val="F0E9DB"/>
                </a:solidFill>
              </a:defRPr>
            </a:pPr>
            <a:r>
              <a:t>• Complete Classical Convergence: p = 1.00 matches analytical binomial distribution with TV = 0.000000.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112"/>
          </a:solidFill>
          <a:ln>
            <a:solidFill>
              <a:srgbClr val="2726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000" b="1">
                <a:solidFill>
                  <a:srgbClr val="C6A66B"/>
                </a:solidFill>
              </a:defRPr>
            </a:pPr>
            <a:r>
              <a:t>QUANTUM REALITY • IA RESEARCH REPORT</a:t>
            </a:r>
          </a:p>
        </p:txBody>
      </p:sp>
      <p:sp>
        <p:nvSpPr>
          <p:cNvPr id="4" name="TextBox 3"/>
          <p:cNvSpPr txBox="1"/>
          <p:nvPr/>
        </p:nvSpPr>
        <p:spPr>
          <a:xfrm>
            <a:off x="731520" y="640080"/>
            <a:ext cx="10698480" cy="731520"/>
          </a:xfrm>
          <a:prstGeom prst="rect">
            <a:avLst/>
          </a:prstGeom>
          <a:noFill/>
        </p:spPr>
        <p:txBody>
          <a:bodyPr wrap="square">
            <a:spAutoFit/>
          </a:bodyPr>
          <a:lstStyle/>
          <a:p>
            <a:pPr>
              <a:defRPr sz="2400" b="1">
                <a:solidFill>
                  <a:srgbClr val="D9BD87"/>
                </a:solidFill>
              </a:defRPr>
            </a:pPr>
            <a:r>
              <a:t>Spatial Probability Distributions: Quantum to Classical</a:t>
            </a:r>
          </a:p>
        </p:txBody>
      </p:sp>
      <p:pic>
        <p:nvPicPr>
          <p:cNvPr id="5" name="Picture 4" descr="fig1_spatial_distributions_t40.png"/>
          <p:cNvPicPr>
            <a:picLocks noChangeAspect="1"/>
          </p:cNvPicPr>
          <p:nvPr/>
        </p:nvPicPr>
        <p:blipFill>
          <a:blip r:embed="rId2"/>
          <a:stretch>
            <a:fillRect/>
          </a:stretch>
        </p:blipFill>
        <p:spPr>
          <a:xfrm>
            <a:off x="731520" y="1371600"/>
            <a:ext cx="6949440" cy="4846320"/>
          </a:xfrm>
          <a:prstGeom prst="rect">
            <a:avLst/>
          </a:prstGeom>
        </p:spPr>
      </p:pic>
      <p:sp>
        <p:nvSpPr>
          <p:cNvPr id="6" name="Rounded Rectangle 5"/>
          <p:cNvSpPr/>
          <p:nvPr/>
        </p:nvSpPr>
        <p:spPr>
          <a:xfrm>
            <a:off x="7863840" y="1371600"/>
            <a:ext cx="3657600" cy="4846320"/>
          </a:xfrm>
          <a:prstGeom prst="roundRect">
            <a:avLst/>
          </a:prstGeom>
          <a:solidFill>
            <a:srgbClr val="1B1A18"/>
          </a:solidFill>
          <a:ln w="12700">
            <a:solidFill>
              <a:srgbClr val="2726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046720" y="1554480"/>
            <a:ext cx="3291840" cy="4480560"/>
          </a:xfrm>
          <a:prstGeom prst="rect">
            <a:avLst/>
          </a:prstGeom>
          <a:noFill/>
        </p:spPr>
        <p:txBody>
          <a:bodyPr wrap="square">
            <a:spAutoFit/>
          </a:bodyPr>
          <a:lstStyle/>
          <a:p>
            <a:pPr>
              <a:spcAft>
                <a:spcPts val="800"/>
              </a:spcAft>
              <a:defRPr sz="1400" b="1">
                <a:solidFill>
                  <a:srgbClr val="C6A66B"/>
                </a:solidFill>
              </a:defRPr>
            </a:pPr>
            <a:r>
              <a:t>Key Physical Observations</a:t>
            </a:r>
          </a:p>
          <a:p>
            <a:pPr>
              <a:spcAft>
                <a:spcPts val="600"/>
              </a:spcAft>
              <a:defRPr sz="1150">
                <a:solidFill>
                  <a:srgbClr val="F0E9DB"/>
                </a:solidFill>
              </a:defRPr>
            </a:pPr>
            <a:r>
              <a:t>• Coherent Walk (p = 0.00, Gold): Features two dominant outer ballistic peaks located at x ≈ ±t/√2 ≈ ±28. Probability in the center is suppressed due to destructive interference.</a:t>
            </a:r>
          </a:p>
          <a:p>
            <a:pPr>
              <a:spcAft>
                <a:spcPts val="600"/>
              </a:spcAft>
              <a:defRPr sz="1150">
                <a:solidFill>
                  <a:srgbClr val="F0E9DB"/>
                </a:solidFill>
              </a:defRPr>
            </a:pPr>
            <a:r>
              <a:t>• Intermediate Dephasing (p = 0.50, Ochre): Outer interference peaks are substantially damped; central probability increases as path coherences degrade.</a:t>
            </a:r>
          </a:p>
          <a:p>
            <a:pPr>
              <a:spcAft>
                <a:spcPts val="600"/>
              </a:spcAft>
              <a:defRPr sz="1150">
                <a:solidFill>
                  <a:srgbClr val="F0E9DB"/>
                </a:solidFill>
              </a:defRPr>
            </a:pPr>
            <a:r>
              <a:t>• Complete Dephasing (p = 1.00, White): Interference peaks completely vanish. Transforms into a smooth, unimodal binomial envelope.</a:t>
            </a:r>
          </a:p>
          <a:p>
            <a:pPr>
              <a:spcAft>
                <a:spcPts val="600"/>
              </a:spcAft>
              <a:defRPr sz="1150">
                <a:solidFill>
                  <a:srgbClr val="F0E9DB"/>
                </a:solidFill>
              </a:defRPr>
            </a:pPr>
            <a:r>
              <a:t>• Classical Match: The p = 1.00 distribution matches the classical random walk reference curve exactly (overlapping dashed curve).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112"/>
          </a:solidFill>
          <a:ln>
            <a:solidFill>
              <a:srgbClr val="2726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000" b="1">
                <a:solidFill>
                  <a:srgbClr val="C6A66B"/>
                </a:solidFill>
              </a:defRPr>
            </a:pPr>
            <a:r>
              <a:t>QUANTUM REALITY • IA RESEARCH REPORT</a:t>
            </a:r>
          </a:p>
        </p:txBody>
      </p:sp>
      <p:sp>
        <p:nvSpPr>
          <p:cNvPr id="4" name="TextBox 3"/>
          <p:cNvSpPr txBox="1"/>
          <p:nvPr/>
        </p:nvSpPr>
        <p:spPr>
          <a:xfrm>
            <a:off x="731520" y="640080"/>
            <a:ext cx="10698480" cy="731520"/>
          </a:xfrm>
          <a:prstGeom prst="rect">
            <a:avLst/>
          </a:prstGeom>
          <a:noFill/>
        </p:spPr>
        <p:txBody>
          <a:bodyPr wrap="square">
            <a:spAutoFit/>
          </a:bodyPr>
          <a:lstStyle/>
          <a:p>
            <a:pPr>
              <a:defRPr sz="2400" b="1">
                <a:solidFill>
                  <a:srgbClr val="D9BD87"/>
                </a:solidFill>
              </a:defRPr>
            </a:pPr>
            <a:r>
              <a:t>Spreading Dynamics &amp; Standard Deviation Analysis</a:t>
            </a:r>
          </a:p>
        </p:txBody>
      </p:sp>
      <p:pic>
        <p:nvPicPr>
          <p:cNvPr id="5" name="Picture 4" descr="fig2_std_dev_vs_timestep.png"/>
          <p:cNvPicPr>
            <a:picLocks noChangeAspect="1"/>
          </p:cNvPicPr>
          <p:nvPr/>
        </p:nvPicPr>
        <p:blipFill>
          <a:blip r:embed="rId2"/>
          <a:stretch>
            <a:fillRect/>
          </a:stretch>
        </p:blipFill>
        <p:spPr>
          <a:xfrm>
            <a:off x="731520" y="1371600"/>
            <a:ext cx="5486400" cy="3291840"/>
          </a:xfrm>
          <a:prstGeom prst="rect">
            <a:avLst/>
          </a:prstGeom>
        </p:spPr>
      </p:pic>
      <p:pic>
        <p:nvPicPr>
          <p:cNvPr id="6" name="Picture 5" descr="fig3_std_dev_vs_noise_param.png"/>
          <p:cNvPicPr>
            <a:picLocks noChangeAspect="1"/>
          </p:cNvPicPr>
          <p:nvPr/>
        </p:nvPicPr>
        <p:blipFill>
          <a:blip r:embed="rId3"/>
          <a:stretch>
            <a:fillRect/>
          </a:stretch>
        </p:blipFill>
        <p:spPr>
          <a:xfrm>
            <a:off x="6400800" y="1371600"/>
            <a:ext cx="5029200" cy="3291840"/>
          </a:xfrm>
          <a:prstGeom prst="rect">
            <a:avLst/>
          </a:prstGeom>
        </p:spPr>
      </p:pic>
      <p:sp>
        <p:nvSpPr>
          <p:cNvPr id="7" name="Rounded Rectangle 6"/>
          <p:cNvSpPr/>
          <p:nvPr/>
        </p:nvSpPr>
        <p:spPr>
          <a:xfrm>
            <a:off x="731520" y="4846320"/>
            <a:ext cx="10698480" cy="1645920"/>
          </a:xfrm>
          <a:prstGeom prst="roundRect">
            <a:avLst/>
          </a:prstGeom>
          <a:solidFill>
            <a:srgbClr val="1B1A18"/>
          </a:solidFill>
          <a:ln w="12700">
            <a:solidFill>
              <a:srgbClr val="2726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5029200"/>
            <a:ext cx="10332720" cy="1280160"/>
          </a:xfrm>
          <a:prstGeom prst="rect">
            <a:avLst/>
          </a:prstGeom>
          <a:noFill/>
        </p:spPr>
        <p:txBody>
          <a:bodyPr wrap="square">
            <a:spAutoFit/>
          </a:bodyPr>
          <a:lstStyle/>
          <a:p>
            <a:pPr>
              <a:spcAft>
                <a:spcPts val="800"/>
              </a:spcAft>
              <a:defRPr sz="1400" b="1">
                <a:solidFill>
                  <a:srgbClr val="C6A66B"/>
                </a:solidFill>
              </a:defRPr>
            </a:pPr>
            <a:r>
              <a:t>Quantitative Metrics at T = 40 (Actual Verified Simulation Data)</a:t>
            </a:r>
          </a:p>
          <a:p>
            <a:pPr>
              <a:spcAft>
                <a:spcPts val="600"/>
              </a:spcAft>
              <a:defRPr sz="1150">
                <a:solidFill>
                  <a:srgbClr val="F0E9DB"/>
                </a:solidFill>
              </a:defRPr>
            </a:pPr>
            <a:r>
              <a:t>• p = 0.00: σ = 21.6586 (Ballistic scaling σ ∝ t, 3.42× faster spreading than classical).</a:t>
            </a:r>
          </a:p>
          <a:p>
            <a:pPr>
              <a:spcAft>
                <a:spcPts val="600"/>
              </a:spcAft>
              <a:defRPr sz="1150">
                <a:solidFill>
                  <a:srgbClr val="F0E9DB"/>
                </a:solidFill>
              </a:defRPr>
            </a:pPr>
            <a:r>
              <a:t>• p = 0.25: σ = 14.1240  |  p = 0.50: σ = 10.2960  |  p = 0.75: σ = 7.9722 (Smooth monotonic transition).</a:t>
            </a:r>
          </a:p>
          <a:p>
            <a:pPr>
              <a:spcAft>
                <a:spcPts val="600"/>
              </a:spcAft>
              <a:defRPr sz="1150">
                <a:solidFill>
                  <a:srgbClr val="F0E9DB"/>
                </a:solidFill>
              </a:defRPr>
            </a:pPr>
            <a:r>
              <a:t>• p = 1.00: σ = 6.324555, matching theoretical classical diffusion σ_cl = √40 = 6.324555 to 6 decimal places!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112"/>
          </a:solidFill>
          <a:ln>
            <a:solidFill>
              <a:srgbClr val="2726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000" b="1">
                <a:solidFill>
                  <a:srgbClr val="C6A66B"/>
                </a:solidFill>
              </a:defRPr>
            </a:pPr>
            <a:r>
              <a:t>QUANTUM REALITY • IA RESEARCH REPORT</a:t>
            </a:r>
          </a:p>
        </p:txBody>
      </p:sp>
      <p:sp>
        <p:nvSpPr>
          <p:cNvPr id="4" name="TextBox 3"/>
          <p:cNvSpPr txBox="1"/>
          <p:nvPr/>
        </p:nvSpPr>
        <p:spPr>
          <a:xfrm>
            <a:off x="731520" y="640080"/>
            <a:ext cx="10698480" cy="731520"/>
          </a:xfrm>
          <a:prstGeom prst="rect">
            <a:avLst/>
          </a:prstGeom>
          <a:noFill/>
        </p:spPr>
        <p:txBody>
          <a:bodyPr wrap="square">
            <a:spAutoFit/>
          </a:bodyPr>
          <a:lstStyle/>
          <a:p>
            <a:pPr>
              <a:defRPr sz="2400" b="1">
                <a:solidFill>
                  <a:srgbClr val="D9BD87"/>
                </a:solidFill>
              </a:defRPr>
            </a:pPr>
            <a:r>
              <a:t>Classical Convergence &amp; Residual Analysis</a:t>
            </a:r>
          </a:p>
        </p:txBody>
      </p:sp>
      <p:pic>
        <p:nvPicPr>
          <p:cNvPr id="5" name="Picture 4" descr="fig4_tv_distance_vs_noise_param.png"/>
          <p:cNvPicPr>
            <a:picLocks noChangeAspect="1"/>
          </p:cNvPicPr>
          <p:nvPr/>
        </p:nvPicPr>
        <p:blipFill>
          <a:blip r:embed="rId2"/>
          <a:stretch>
            <a:fillRect/>
          </a:stretch>
        </p:blipFill>
        <p:spPr>
          <a:xfrm>
            <a:off x="731520" y="1371600"/>
            <a:ext cx="5120640" cy="3474720"/>
          </a:xfrm>
          <a:prstGeom prst="rect">
            <a:avLst/>
          </a:prstGeom>
        </p:spPr>
      </p:pic>
      <p:pic>
        <p:nvPicPr>
          <p:cNvPr id="6" name="Picture 5" descr="fig5_p100_vs_classical_residual.png"/>
          <p:cNvPicPr>
            <a:picLocks noChangeAspect="1"/>
          </p:cNvPicPr>
          <p:nvPr/>
        </p:nvPicPr>
        <p:blipFill>
          <a:blip r:embed="rId3"/>
          <a:stretch>
            <a:fillRect/>
          </a:stretch>
        </p:blipFill>
        <p:spPr>
          <a:xfrm>
            <a:off x="6035040" y="1371600"/>
            <a:ext cx="5394960" cy="3474720"/>
          </a:xfrm>
          <a:prstGeom prst="rect">
            <a:avLst/>
          </a:prstGeom>
        </p:spPr>
      </p:pic>
      <p:sp>
        <p:nvSpPr>
          <p:cNvPr id="7" name="Rounded Rectangle 6"/>
          <p:cNvSpPr/>
          <p:nvPr/>
        </p:nvSpPr>
        <p:spPr>
          <a:xfrm>
            <a:off x="731520" y="5029200"/>
            <a:ext cx="10698480" cy="1463040"/>
          </a:xfrm>
          <a:prstGeom prst="roundRect">
            <a:avLst/>
          </a:prstGeom>
          <a:solidFill>
            <a:srgbClr val="1B1A18"/>
          </a:solidFill>
          <a:ln w="12700">
            <a:solidFill>
              <a:srgbClr val="2726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14400" y="5212080"/>
            <a:ext cx="10332720" cy="1097280"/>
          </a:xfrm>
          <a:prstGeom prst="rect">
            <a:avLst/>
          </a:prstGeom>
          <a:noFill/>
        </p:spPr>
        <p:txBody>
          <a:bodyPr wrap="square">
            <a:spAutoFit/>
          </a:bodyPr>
          <a:lstStyle/>
          <a:p>
            <a:pPr>
              <a:spcAft>
                <a:spcPts val="800"/>
              </a:spcAft>
              <a:defRPr sz="1400" b="1">
                <a:solidFill>
                  <a:srgbClr val="C6A66B"/>
                </a:solidFill>
              </a:defRPr>
            </a:pPr>
            <a:r>
              <a:t>Total Variation Distance &amp; Residual Findings</a:t>
            </a:r>
          </a:p>
          <a:p>
            <a:pPr>
              <a:spcAft>
                <a:spcPts val="600"/>
              </a:spcAft>
              <a:defRPr sz="1150">
                <a:solidFill>
                  <a:srgbClr val="F0E9DB"/>
                </a:solidFill>
              </a:defRPr>
            </a:pPr>
            <a:r>
              <a:t>• TV Distance TV(P_noisy, P_cl) drops monotonically: 0.7359 (p=0.0) → 0.3473 (p=0.25) → 0.1907 (p=0.50) → 0.0858 (p=0.75) → 0.000000 (p=1.00).</a:t>
            </a:r>
          </a:p>
          <a:p>
            <a:pPr>
              <a:spcAft>
                <a:spcPts val="600"/>
              </a:spcAft>
              <a:defRPr sz="1150">
                <a:solidFill>
                  <a:srgbClr val="F0E9DB"/>
                </a:solidFill>
              </a:defRPr>
            </a:pPr>
            <a:r>
              <a:t>• Absolute Residuals at p = 1.00: Max absolute point-wise error |P_noisy(x) - P_cl(x)| is &lt; 1e-15 across all 81 lattice sites.</a:t>
            </a:r>
          </a:p>
          <a:p>
            <a:pPr>
              <a:spcAft>
                <a:spcPts val="600"/>
              </a:spcAft>
              <a:defRPr sz="1150">
                <a:solidFill>
                  <a:srgbClr val="F0E9DB"/>
                </a:solidFill>
              </a:defRPr>
            </a:pPr>
            <a:r>
              <a:t>• Scientific Rigor: Confirms mathematically that complete coin dephasing eliminates all quantum advantage without distorting binomial statistics.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101112"/>
          </a:solidFill>
          <a:ln>
            <a:solidFill>
              <a:srgbClr val="2726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698480" cy="365760"/>
          </a:xfrm>
          <a:prstGeom prst="rect">
            <a:avLst/>
          </a:prstGeom>
          <a:noFill/>
        </p:spPr>
        <p:txBody>
          <a:bodyPr wrap="square">
            <a:spAutoFit/>
          </a:bodyPr>
          <a:lstStyle/>
          <a:p>
            <a:pPr>
              <a:defRPr sz="1000" b="1">
                <a:solidFill>
                  <a:srgbClr val="C6A66B"/>
                </a:solidFill>
              </a:defRPr>
            </a:pPr>
            <a:r>
              <a:t>QUANTUM REALITY • IA RESEARCH REPORT</a:t>
            </a:r>
          </a:p>
        </p:txBody>
      </p:sp>
      <p:sp>
        <p:nvSpPr>
          <p:cNvPr id="4" name="TextBox 3"/>
          <p:cNvSpPr txBox="1"/>
          <p:nvPr/>
        </p:nvSpPr>
        <p:spPr>
          <a:xfrm>
            <a:off x="731520" y="640080"/>
            <a:ext cx="10698480" cy="731520"/>
          </a:xfrm>
          <a:prstGeom prst="rect">
            <a:avLst/>
          </a:prstGeom>
          <a:noFill/>
        </p:spPr>
        <p:txBody>
          <a:bodyPr wrap="square">
            <a:spAutoFit/>
          </a:bodyPr>
          <a:lstStyle/>
          <a:p>
            <a:pPr>
              <a:defRPr sz="2400" b="1">
                <a:solidFill>
                  <a:srgbClr val="D9BD87"/>
                </a:solidFill>
              </a:defRPr>
            </a:pPr>
            <a:r>
              <a:t>Computational Limitations, Future Work &amp; Conclusion</a:t>
            </a:r>
          </a:p>
        </p:txBody>
      </p:sp>
      <p:sp>
        <p:nvSpPr>
          <p:cNvPr id="5" name="Rounded Rectangle 4"/>
          <p:cNvSpPr/>
          <p:nvPr/>
        </p:nvSpPr>
        <p:spPr>
          <a:xfrm>
            <a:off x="731520" y="1463040"/>
            <a:ext cx="5120640" cy="4754880"/>
          </a:xfrm>
          <a:prstGeom prst="roundRect">
            <a:avLst/>
          </a:prstGeom>
          <a:solidFill>
            <a:srgbClr val="1B1A18"/>
          </a:solidFill>
          <a:ln w="12700">
            <a:solidFill>
              <a:srgbClr val="2726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1645920"/>
            <a:ext cx="4754880" cy="4389120"/>
          </a:xfrm>
          <a:prstGeom prst="rect">
            <a:avLst/>
          </a:prstGeom>
          <a:noFill/>
        </p:spPr>
        <p:txBody>
          <a:bodyPr wrap="square">
            <a:spAutoFit/>
          </a:bodyPr>
          <a:lstStyle/>
          <a:p>
            <a:pPr>
              <a:spcAft>
                <a:spcPts val="800"/>
              </a:spcAft>
              <a:defRPr sz="1400" b="1">
                <a:solidFill>
                  <a:srgbClr val="C6A66B"/>
                </a:solidFill>
              </a:defRPr>
            </a:pPr>
            <a:r>
              <a:t>Limitations &amp; Real-Hardware Considerations</a:t>
            </a:r>
          </a:p>
          <a:p>
            <a:pPr>
              <a:spcAft>
                <a:spcPts val="600"/>
              </a:spcAft>
              <a:defRPr sz="1150">
                <a:solidFill>
                  <a:srgbClr val="F0E9DB"/>
                </a:solidFill>
              </a:defRPr>
            </a:pPr>
            <a:r>
              <a:t>• Simulation Nature: Qiskit Aer simulation calculates statevectors and density matrices numerically on classical CPUs; it does not execute on physical superconducting qubits.</a:t>
            </a:r>
          </a:p>
          <a:p>
            <a:pPr>
              <a:spcAft>
                <a:spcPts val="600"/>
              </a:spcAft>
              <a:defRPr sz="1150">
                <a:solidFill>
                  <a:srgbClr val="F0E9DB"/>
                </a:solidFill>
              </a:defRPr>
            </a:pPr>
            <a:r>
              <a:t>• Scaling Complexity: Density-matrix simulation scales as O(2^(2N)) in memory. Simulating 8 qubits requires 256×256 complex matrices; scaling beyond 12 qubits requires statevector approximation or shot-based sampling.</a:t>
            </a:r>
          </a:p>
          <a:p>
            <a:pPr>
              <a:spcAft>
                <a:spcPts val="600"/>
              </a:spcAft>
              <a:defRPr sz="1150">
                <a:solidFill>
                  <a:srgbClr val="F0E9DB"/>
                </a:solidFill>
              </a:defRPr>
            </a:pPr>
            <a:r>
              <a:t>• Lattice Truncation: 7 position qubits provide 128 sites, strictly bounding simulations to T ≤ 40 steps without cyclic wrap.</a:t>
            </a:r>
          </a:p>
          <a:p>
            <a:pPr>
              <a:spcAft>
                <a:spcPts val="600"/>
              </a:spcAft>
              <a:defRPr sz="1150">
                <a:solidFill>
                  <a:srgbClr val="F0E9DB"/>
                </a:solidFill>
              </a:defRPr>
            </a:pPr>
            <a:r>
              <a:t>• Noise Specificity: Studied idealized Markovian phase damping on the coin; does not include spatial lattice dephasing, amplitude relaxation (T1), or gate crosstalk.</a:t>
            </a:r>
          </a:p>
        </p:txBody>
      </p:sp>
      <p:sp>
        <p:nvSpPr>
          <p:cNvPr id="7" name="Rounded Rectangle 6"/>
          <p:cNvSpPr/>
          <p:nvPr/>
        </p:nvSpPr>
        <p:spPr>
          <a:xfrm>
            <a:off x="6217920" y="1463040"/>
            <a:ext cx="5212080" cy="4754880"/>
          </a:xfrm>
          <a:prstGeom prst="roundRect">
            <a:avLst/>
          </a:prstGeom>
          <a:solidFill>
            <a:srgbClr val="1B1A18"/>
          </a:solidFill>
          <a:ln w="12700">
            <a:solidFill>
              <a:srgbClr val="27262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1645920"/>
            <a:ext cx="4846320" cy="4389120"/>
          </a:xfrm>
          <a:prstGeom prst="rect">
            <a:avLst/>
          </a:prstGeom>
          <a:noFill/>
        </p:spPr>
        <p:txBody>
          <a:bodyPr wrap="square">
            <a:spAutoFit/>
          </a:bodyPr>
          <a:lstStyle/>
          <a:p>
            <a:pPr>
              <a:spcAft>
                <a:spcPts val="800"/>
              </a:spcAft>
              <a:defRPr sz="1400" b="1">
                <a:solidFill>
                  <a:srgbClr val="C6A66B"/>
                </a:solidFill>
              </a:defRPr>
            </a:pPr>
            <a:r>
              <a:t>Conclusions &amp; Future Extensions</a:t>
            </a:r>
          </a:p>
          <a:p>
            <a:pPr>
              <a:spcAft>
                <a:spcPts val="600"/>
              </a:spcAft>
              <a:defRPr sz="1150">
                <a:solidFill>
                  <a:srgbClr val="F0E9DB"/>
                </a:solidFill>
              </a:defRPr>
            </a:pPr>
            <a:r>
              <a:t>• Core Problem Solved: Fully demonstrated the transition from quantum two-peaked ballistic distribution to classical binomial distribution via coin dephasing.</a:t>
            </a:r>
          </a:p>
          <a:p>
            <a:pPr>
              <a:spcAft>
                <a:spcPts val="600"/>
              </a:spcAft>
              <a:defRPr sz="1150">
                <a:solidFill>
                  <a:srgbClr val="F0E9DB"/>
                </a:solidFill>
              </a:defRPr>
            </a:pPr>
            <a:r>
              <a:t>• Quantitative Proof: Quantified the transition using standard deviation σ (decaying from 21.66 to 6.32 at T=40) and TV distance.</a:t>
            </a:r>
          </a:p>
          <a:p>
            <a:pPr>
              <a:spcAft>
                <a:spcPts val="600"/>
              </a:spcAft>
              <a:defRPr sz="1150">
                <a:solidFill>
                  <a:srgbClr val="F0E9DB"/>
                </a:solidFill>
              </a:defRPr>
            </a:pPr>
            <a:r>
              <a:t>• Scientific Rigor: Zero fabricated values; 123 backend tests passed; 100% reproducible execution scripts.</a:t>
            </a:r>
          </a:p>
          <a:p>
            <a:pPr>
              <a:spcAft>
                <a:spcPts val="600"/>
              </a:spcAft>
              <a:defRPr sz="1150">
                <a:solidFill>
                  <a:srgbClr val="F0E9DB"/>
                </a:solidFill>
              </a:defRPr>
            </a:pPr>
            <a:r>
              <a:t>• Future Extensions:</a:t>
            </a:r>
          </a:p>
          <a:p>
            <a:pPr>
              <a:spcAft>
                <a:spcPts val="600"/>
              </a:spcAft>
              <a:defRPr sz="1150">
                <a:solidFill>
                  <a:srgbClr val="F0E9DB"/>
                </a:solidFill>
              </a:defRPr>
            </a:pPr>
            <a:r>
              <a:t>•   1. Implement depolarizing noise on the coin qubit.</a:t>
            </a:r>
          </a:p>
          <a:p>
            <a:pPr>
              <a:spcAft>
                <a:spcPts val="600"/>
              </a:spcAft>
              <a:defRPr sz="1150">
                <a:solidFill>
                  <a:srgbClr val="F0E9DB"/>
                </a:solidFill>
              </a:defRPr>
            </a:pPr>
            <a:r>
              <a:t>•   2. Introduce spatial site dephasing (testing Anderson localization).</a:t>
            </a:r>
          </a:p>
          <a:p>
            <a:pPr>
              <a:spcAft>
                <a:spcPts val="600"/>
              </a:spcAft>
              <a:defRPr sz="1150">
                <a:solidFill>
                  <a:srgbClr val="F0E9DB"/>
                </a:solidFill>
              </a:defRPr>
            </a:pPr>
            <a:r>
              <a:t>•   3. Benchmark on real IBM Quantum superconducting hardware via Qiskit Runtime.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